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6A2A"/>
                </a:solidFill>
                <a:latin typeface="Consolas"/>
              </a:rPr>
              <a:t>// PLANO DE DESENVOLVIMENTO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Dev Júnior → Pleno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C6A2A"/>
                </a:solidFill>
                <a:latin typeface="Calibri"/>
              </a:rPr>
              <a:t>Back-end &amp; Arquitetura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A9A"/>
                </a:solidFill>
                <a:latin typeface="Consolas"/>
              </a:rPr>
              <a:t>Itaú · ENG FOUNDATION   |   Horizon: 6 meses → 2 anos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2148840" cy="347472"/>
          </a:xfrm>
          <a:prstGeom prst="rect">
            <a:avLst/>
          </a:prstGeom>
          <a:solidFill>
            <a:srgbClr val="18181F"/>
          </a:solidFill>
          <a:ln w="9525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39319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6A2A"/>
                </a:solidFill>
                <a:latin typeface="Consolas"/>
              </a:rPr>
              <a:t>Go · Node.js · 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3931920"/>
            <a:ext cx="2148840" cy="347472"/>
          </a:xfrm>
          <a:prstGeom prst="rect">
            <a:avLst/>
          </a:prstGeom>
          <a:solidFill>
            <a:srgbClr val="18181F"/>
          </a:solidFill>
          <a:ln w="9525">
            <a:solidFill>
              <a:srgbClr val="4EC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39319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ECB8D"/>
                </a:solidFill>
                <a:latin typeface="Consolas"/>
              </a:rPr>
              <a:t>Foco: Arquitetura Back-end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3931920"/>
            <a:ext cx="2148840" cy="347472"/>
          </a:xfrm>
          <a:prstGeom prst="rect">
            <a:avLst/>
          </a:prstGeom>
          <a:solidFill>
            <a:srgbClr val="18181F"/>
          </a:solidFill>
          <a:ln w="9525">
            <a:solidFill>
              <a:srgbClr val="5E9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39319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E9FF7"/>
                </a:solidFill>
                <a:latin typeface="Consolas"/>
              </a:rPr>
              <a:t>Dados: SQL → Data Mesh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3931920"/>
            <a:ext cx="2148840" cy="347472"/>
          </a:xfrm>
          <a:prstGeom prst="rect">
            <a:avLst/>
          </a:prstGeom>
          <a:solidFill>
            <a:srgbClr val="18181F"/>
          </a:solidFill>
          <a:ln w="9525">
            <a:solidFill>
              <a:srgbClr val="7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39319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onsolas"/>
              </a:rPr>
              <a:t>Angular (paralelo)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73152"/>
          </a:xfrm>
          <a:prstGeom prst="rect">
            <a:avLst/>
          </a:prstGeom>
          <a:solidFill>
            <a:srgbClr val="EC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9A"/>
                </a:solidFill>
                <a:latin typeface="Consolas"/>
              </a:rPr>
              <a:t>01 · diagnóstico atual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11247120" cy="1828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713232"/>
            <a:ext cx="3749039" cy="539496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13232"/>
            <a:ext cx="54864" cy="5394960"/>
          </a:xfrm>
          <a:prstGeom prst="rect">
            <a:avLst/>
          </a:prstGeom>
          <a:solidFill>
            <a:srgbClr val="4EC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ECB8D"/>
                </a:solidFill>
                <a:latin typeface="Consolas"/>
              </a:rPr>
              <a:t>✦  FORÇAS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2–3 anos de experiência ativa como 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4592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Stack back-end: Go, Node.js,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5740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Angular em produção no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6888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SQL / queries no dia a 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8036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On-call via ServiceNow (maturidade ops)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29184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Rollout Service: Go + Mongo + Hexagonal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713232"/>
            <a:ext cx="3749039" cy="539496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713232"/>
            <a:ext cx="54864" cy="5394960"/>
          </a:xfrm>
          <a:prstGeom prst="rect">
            <a:avLst/>
          </a:prstGeom>
          <a:solidFill>
            <a:srgbClr val="F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1" y="80467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6A7A"/>
                </a:solidFill>
                <a:latin typeface="Consolas"/>
              </a:rPr>
              <a:t>⚠  GAPS CRÍTICOS PARA PLENO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1" y="123444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Full stack amplo = risco de ser mediano em tudo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4592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Dados além de SQL: pipelines, data mesh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205740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Observabilidade / Datadog não consolidado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246888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Hexagonal no projeto, mas não em produção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1" y="288036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Sem certificação de mercado ainda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8" y="713232"/>
            <a:ext cx="3749039" cy="539496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598" y="713232"/>
            <a:ext cx="54864" cy="5394960"/>
          </a:xfrm>
          <a:prstGeom prst="rect">
            <a:avLst/>
          </a:prstGeom>
          <a:solidFill>
            <a:srgbClr val="5E9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0" y="80467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9FF7"/>
                </a:solidFill>
                <a:latin typeface="Consolas"/>
              </a:rPr>
              <a:t>◈  CONTEXTO ITAÚ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0" y="123444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Banco valoriza especialização + impacto mensurável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0" y="164592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ENG FOUNDATION: back-end sólido é pré-requisito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0" y="205740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RT DJ: visibilidade real na área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0" y="2468880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1:1 com tech lead: alinhar critérios de promoção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141208"/>
          </a:solidFill>
          <a:ln w="9525">
            <a:solidFill>
              <a:srgbClr val="F7C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2819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C25E"/>
                </a:solidFill>
                <a:latin typeface="Consolas"/>
              </a:rPr>
              <a:t>⚡  Sobre redundância: data mesh + Datadog dependem de back-end sólido. A sequência correta é: Arquitetura (0-3m) → Observabilidade (3-6m) → Dados (6-12m).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9A"/>
                </a:solidFill>
                <a:latin typeface="Consolas"/>
              </a:rPr>
              <a:t>02 · trilha de desenvolvimento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11247120" cy="1828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6A2A"/>
                </a:solidFill>
                <a:latin typeface="Consolas"/>
              </a:rPr>
              <a:t>0–3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Fundação: Back-end Sólido + Visibilidade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18288"/>
          </a:xfrm>
          <a:prstGeom prst="rect">
            <a:avLst/>
          </a:prstGeom>
          <a:solidFill>
            <a:srgbClr val="EC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3749039" cy="50749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54864" cy="5074920"/>
          </a:xfrm>
          <a:prstGeom prst="rect">
            <a:avLst/>
          </a:prstGeom>
          <a:solidFill>
            <a:srgbClr val="EC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6420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6A2A"/>
                </a:solidFill>
                <a:latin typeface="Consolas"/>
              </a:rPr>
              <a:t>🎯  FOCO TÉCNICO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093976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0939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C6A2A"/>
                </a:solidFill>
                <a:latin typeface="Consolas"/>
              </a:rPr>
              <a:t>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57400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Hexagonal architecture em produção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532888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5328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C6A2A"/>
                </a:solidFill>
                <a:latin typeface="Consolas"/>
              </a:rPr>
              <a:t>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96312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Testes unitários + integração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971800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97180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C6A2A"/>
                </a:solidFill>
                <a:latin typeface="Consola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935224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SOLID, Clean Arch, DDD básico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410712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41071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C6A2A"/>
                </a:solidFill>
                <a:latin typeface="Consolas"/>
              </a:rPr>
              <a:t>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74136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REST avançado: versionamento, contratos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3849624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84962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C6A2A"/>
                </a:solidFill>
                <a:latin typeface="Consolas"/>
              </a:rPr>
              <a:t>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813048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Índices, explain plan, performance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1572768"/>
            <a:ext cx="3749039" cy="50749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9" y="1572768"/>
            <a:ext cx="54864" cy="5074920"/>
          </a:xfrm>
          <a:prstGeom prst="rect">
            <a:avLst/>
          </a:prstGeom>
          <a:solidFill>
            <a:srgbClr val="4EC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1" y="166420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ECB8D"/>
                </a:solidFill>
                <a:latin typeface="Consolas"/>
              </a:rPr>
              <a:t>📦  ENTREGAS CONCRETAS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1" y="2093976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4EC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1" y="20939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CB8D"/>
                </a:solidFill>
                <a:latin typeface="Consolas"/>
              </a:rPr>
              <a:t>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9" y="2057400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Completar fase 3.3 do Rollout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2271" y="2532888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4EC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1" y="25328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CB8D"/>
                </a:solidFill>
                <a:latin typeface="Consolas"/>
              </a:rPr>
              <a:t>Doc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2496312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ADRs de arquitetura no Notion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62271" y="2971800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4EC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2271" y="297180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CB8D"/>
                </a:solidFill>
                <a:latin typeface="Consolas"/>
              </a:rPr>
              <a:t>Visib.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39" y="2935224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Apresentar Rollout ao squad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62271" y="3410712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4EC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341071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CB8D"/>
                </a:solidFill>
                <a:latin typeface="Consolas"/>
              </a:rPr>
              <a:t>1:1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39" y="3374136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Pacto de promoção com gestor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598" y="1572768"/>
            <a:ext cx="3749039" cy="50749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598" y="1572768"/>
            <a:ext cx="54864" cy="5074920"/>
          </a:xfrm>
          <a:prstGeom prst="rect">
            <a:avLst/>
          </a:prstGeom>
          <a:solidFill>
            <a:srgbClr val="5E9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94190" y="166420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9FF7"/>
                </a:solidFill>
                <a:latin typeface="Consolas"/>
              </a:rPr>
              <a:t>📚  ESTUDOS SEMANAIS (5–10h)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94190" y="2093976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5E9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0" y="20939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E9FF7"/>
                </a:solidFill>
                <a:latin typeface="Consolas"/>
              </a:rPr>
              <a:t>Livro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58" y="2057400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Clean Architecture — R. C. Martin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94190" y="2532888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5E9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94190" y="25328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E9FF7"/>
                </a:solidFill>
                <a:latin typeface="Consolas"/>
              </a:rPr>
              <a:t>Curso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58" y="2496312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Go avançado — Alura / Udemy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94190" y="2971800"/>
            <a:ext cx="59436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5E9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94190" y="297180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E9FF7"/>
                </a:solidFill>
                <a:latin typeface="Consolas"/>
              </a:rPr>
              <a:t>Prática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58" y="2935224"/>
            <a:ext cx="2788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Refatorar 1 módulo/semana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9A"/>
                </a:solidFill>
                <a:latin typeface="Consolas"/>
              </a:rPr>
              <a:t>02 · trilha de desenvolvimento — continuação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11247120" cy="1828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CB8D"/>
                </a:solidFill>
                <a:latin typeface="Consolas"/>
              </a:rPr>
              <a:t>3–6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Pleno: Consolidação + Observabilidade + Certs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3716"/>
          </a:xfrm>
          <a:prstGeom prst="rect">
            <a:avLst/>
          </a:prstGeom>
          <a:solidFill>
            <a:srgbClr val="4EC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3749039" cy="23317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54864" cy="2331720"/>
          </a:xfrm>
          <a:prstGeom prst="rect">
            <a:avLst/>
          </a:prstGeom>
          <a:solidFill>
            <a:srgbClr val="4EC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0876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ECB8D"/>
                </a:solidFill>
                <a:latin typeface="Consolas"/>
              </a:rPr>
              <a:t>🎯 FOCO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47088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Datadog: APM, logs, traces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94560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AWS: ECS, CloudWatch, IAM,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42032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Kafka/SQS básico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889504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Angular: manter, não evoluir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444752"/>
            <a:ext cx="3749039" cy="23317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444752"/>
            <a:ext cx="54864" cy="2331720"/>
          </a:xfrm>
          <a:prstGeom prst="rect">
            <a:avLst/>
          </a:prstGeom>
          <a:solidFill>
            <a:srgbClr val="4EC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1" y="150876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ECB8D"/>
                </a:solidFill>
                <a:latin typeface="Consolas"/>
              </a:rPr>
              <a:t>📦 ENTREGAS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847088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Instrumentar Rollout c/ Datadog APM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2194560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AWS Cloud Practitioner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2542032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Case técnico para promoção a pleno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1" y="2889504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Mentoriar devs mais novos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8" y="1444752"/>
            <a:ext cx="3749039" cy="23317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598" y="1444752"/>
            <a:ext cx="54864" cy="2331720"/>
          </a:xfrm>
          <a:prstGeom prst="rect">
            <a:avLst/>
          </a:prstGeom>
          <a:solidFill>
            <a:srgbClr val="4EC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0" y="150876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ECB8D"/>
                </a:solidFill>
                <a:latin typeface="Consolas"/>
              </a:rPr>
              <a:t>📚 ESTUDOS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0" y="1847088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AWS Cloud Practitioner (4-6 semanas)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0" y="2194560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Datadog docs + trial 14 dias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0" y="2542032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Trilhas internas Itaú (verificar gestor)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86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E9FF7"/>
                </a:solidFill>
                <a:latin typeface="Consolas"/>
              </a:rPr>
              <a:t>6–12 MESES  (pós-pleno)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Especialização: Dados + Plataforma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07992"/>
            <a:ext cx="11247120" cy="13716"/>
          </a:xfrm>
          <a:prstGeom prst="rect">
            <a:avLst/>
          </a:prstGeom>
          <a:solidFill>
            <a:srgbClr val="5E9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617720"/>
            <a:ext cx="3749039" cy="201168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617720"/>
            <a:ext cx="54864" cy="2011680"/>
          </a:xfrm>
          <a:prstGeom prst="rect">
            <a:avLst/>
          </a:prstGeom>
          <a:solidFill>
            <a:srgbClr val="5E9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6817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E9FF7"/>
                </a:solidFill>
                <a:latin typeface="Consolas"/>
              </a:rPr>
              <a:t>🎯 FOCO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983480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Data Mesh: products, contracts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5330952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Pipelines: dbt, Kafka, Spark/Flink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678424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Python para dados: Pandas, FastAPI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4617720"/>
            <a:ext cx="3749039" cy="201168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79" y="4617720"/>
            <a:ext cx="54864" cy="2011680"/>
          </a:xfrm>
          <a:prstGeom prst="rect">
            <a:avLst/>
          </a:prstGeom>
          <a:solidFill>
            <a:srgbClr val="5E9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46817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E9FF7"/>
                </a:solidFill>
                <a:latin typeface="Consolas"/>
              </a:rPr>
              <a:t>📦 ENTREGAS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2271" y="4983480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Propor data product no Itaú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1" y="5330952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AWS Solutions Architect Associate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1" y="5678424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Tech talk: data mesh / observabilidade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598" y="4617720"/>
            <a:ext cx="3749039" cy="201168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598" y="4617720"/>
            <a:ext cx="54864" cy="2011680"/>
          </a:xfrm>
          <a:prstGeom prst="rect">
            <a:avLst/>
          </a:prstGeom>
          <a:solidFill>
            <a:srgbClr val="5E9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0" y="46817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E9FF7"/>
                </a:solidFill>
                <a:latin typeface="Consolas"/>
              </a:rPr>
              <a:t>📚 ESTUDOS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0" y="4983480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Designing Data-Intensive Apps (livro)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0" y="5330952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Data Mesh course (data.world/Udemy)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0" y="5678424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→  Side project: Kafka + Python + Datadog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9A"/>
                </a:solidFill>
                <a:latin typeface="Consolas"/>
              </a:rPr>
              <a:t>03 · certificações —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11247120" cy="1828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13232"/>
            <a:ext cx="3794760" cy="25603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54864" cy="2560320"/>
          </a:xfrm>
          <a:prstGeom prst="rect">
            <a:avLst/>
          </a:prstGeom>
          <a:solidFill>
            <a:srgbClr val="EC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822960"/>
            <a:ext cx="3538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AWS Cloud Practitioner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216152"/>
            <a:ext cx="1005840" cy="219456"/>
          </a:xfrm>
          <a:prstGeom prst="rect">
            <a:avLst/>
          </a:prstGeom>
          <a:solidFill>
            <a:srgbClr val="18181F"/>
          </a:solidFill>
          <a:ln w="6350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21615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C6A2A"/>
                </a:solidFill>
                <a:latin typeface="Consolas"/>
              </a:rPr>
              <a:t>curto prazo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536192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9A"/>
                </a:solidFill>
                <a:latin typeface="Calibri"/>
              </a:rPr>
              <a:t>✦  Formaliza infra que você já usa no Rollout Service (ECS, S3, CloudWatch). Base para todas as certs AWS.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713232"/>
            <a:ext cx="3794760" cy="25603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7952" y="713232"/>
            <a:ext cx="54864" cy="2560320"/>
          </a:xfrm>
          <a:prstGeom prst="rect">
            <a:avLst/>
          </a:prstGeom>
          <a:solidFill>
            <a:srgbClr val="EC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822960"/>
            <a:ext cx="3538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Datadog Fundamentals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1216152"/>
            <a:ext cx="1005840" cy="219456"/>
          </a:xfrm>
          <a:prstGeom prst="rect">
            <a:avLst/>
          </a:prstGeom>
          <a:solidFill>
            <a:srgbClr val="18181F"/>
          </a:solidFill>
          <a:ln w="6350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21615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C6A2A"/>
                </a:solidFill>
                <a:latin typeface="Consolas"/>
              </a:rPr>
              <a:t>curto prazo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1536192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9A"/>
                </a:solidFill>
                <a:latin typeface="Calibri"/>
              </a:rPr>
              <a:t>✦  Rápida (20–30h). Impacto imediato no trabalho, o Itaú usa em produção.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9872" y="713232"/>
            <a:ext cx="3794760" cy="25603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713232"/>
            <a:ext cx="54864" cy="2560320"/>
          </a:xfrm>
          <a:prstGeom prst="rect">
            <a:avLst/>
          </a:prstGeom>
          <a:solidFill>
            <a:srgbClr val="5E9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822960"/>
            <a:ext cx="3538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AWS Solutions Architect Assoc.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4464" y="1216152"/>
            <a:ext cx="1005840" cy="219456"/>
          </a:xfrm>
          <a:prstGeom prst="rect">
            <a:avLst/>
          </a:prstGeom>
          <a:solidFill>
            <a:srgbClr val="18181F"/>
          </a:solidFill>
          <a:ln w="6350">
            <a:solidFill>
              <a:srgbClr val="5E9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21615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E9FF7"/>
                </a:solidFill>
                <a:latin typeface="Consolas"/>
              </a:rPr>
              <a:t>médio prazo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1536192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9A"/>
                </a:solidFill>
                <a:latin typeface="Calibri"/>
              </a:rPr>
              <a:t>✦  Diferencial pleno→sênior. Valida decisões arquiteturais em cloud.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410712"/>
            <a:ext cx="3794760" cy="25603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410712"/>
            <a:ext cx="54864" cy="2560320"/>
          </a:xfrm>
          <a:prstGeom prst="rect">
            <a:avLst/>
          </a:prstGeom>
          <a:solidFill>
            <a:srgbClr val="5E9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3520440"/>
            <a:ext cx="3538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MongoDB Associate Developer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" y="3913632"/>
            <a:ext cx="1005840" cy="219456"/>
          </a:xfrm>
          <a:prstGeom prst="rect">
            <a:avLst/>
          </a:prstGeom>
          <a:solidFill>
            <a:srgbClr val="18181F"/>
          </a:solidFill>
          <a:ln w="6350">
            <a:solidFill>
              <a:srgbClr val="5E9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39136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E9FF7"/>
                </a:solidFill>
                <a:latin typeface="Consolas"/>
              </a:rPr>
              <a:t>médio prazo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4233672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9A"/>
                </a:solidFill>
                <a:latin typeface="Calibri"/>
              </a:rPr>
              <a:t>✦  Você já usa MongoDB. Cert de menor esforço, maior retorno.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7952" y="3410712"/>
            <a:ext cx="3794760" cy="25603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87952" y="3410712"/>
            <a:ext cx="54864" cy="2560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520440"/>
            <a:ext cx="3538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AWS Data Analytics Specialty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52544" y="3913632"/>
            <a:ext cx="1005840" cy="219456"/>
          </a:xfrm>
          <a:prstGeom prst="rect">
            <a:avLst/>
          </a:prstGeom>
          <a:solidFill>
            <a:srgbClr val="18181F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2544" y="39136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78BFA"/>
                </a:solidFill>
                <a:latin typeface="Consolas"/>
              </a:rPr>
              <a:t>longo prazo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2544" y="4233672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9A"/>
                </a:solidFill>
                <a:latin typeface="Calibri"/>
              </a:rPr>
              <a:t>✦  Alinha com data mesh. Posiciona como especialista de dados sênior.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19872" y="3410712"/>
            <a:ext cx="3794760" cy="256032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19872" y="3410712"/>
            <a:ext cx="54864" cy="2560320"/>
          </a:xfrm>
          <a:prstGeom prst="rect">
            <a:avLst/>
          </a:prstGeom>
          <a:solidFill>
            <a:srgbClr val="4EC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3520440"/>
            <a:ext cx="3538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Trilhas Internas Itaú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84464" y="3913632"/>
            <a:ext cx="1005840" cy="219456"/>
          </a:xfrm>
          <a:prstGeom prst="rect">
            <a:avLst/>
          </a:prstGeom>
          <a:solidFill>
            <a:srgbClr val="18181F"/>
          </a:solidFill>
          <a:ln w="6350">
            <a:solidFill>
              <a:srgbClr val="4EC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39136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CB8D"/>
                </a:solidFill>
                <a:latin typeface="Consolas"/>
              </a:rPr>
              <a:t>paralelo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4233672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9A"/>
                </a:solidFill>
                <a:latin typeface="Calibri"/>
              </a:rPr>
              <a:t>✦  Alura + trilhas cloud/dados. Peso em processos de promoção internos.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9A"/>
                </a:solidFill>
                <a:latin typeface="Consolas"/>
              </a:rPr>
              <a:t>04 · entregas mensuráveis — por trimestre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11247120" cy="1828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7A9A"/>
                </a:solidFill>
                <a:latin typeface="Consolas"/>
              </a:rPr>
              <a:t>Período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71323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7A9A"/>
                </a:solidFill>
                <a:latin typeface="Consolas"/>
              </a:rPr>
              <a:t>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71323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7A9A"/>
                </a:solidFill>
                <a:latin typeface="Consolas"/>
              </a:rPr>
              <a:t>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713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7A9A"/>
                </a:solidFill>
                <a:latin typeface="Consolas"/>
              </a:rPr>
              <a:t>Impacto esperado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51560"/>
            <a:ext cx="11430000" cy="5029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61288"/>
            <a:ext cx="109728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612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C6A2A"/>
                </a:solidFill>
                <a:latin typeface="Consolas"/>
              </a:rPr>
              <a:t>T1 · M1-3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10642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Completar Release Train Service (fase 3.3)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10642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Projeto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1064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Evidência de back-end completo em 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664208"/>
            <a:ext cx="109728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6642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C6A2A"/>
                </a:solidFill>
                <a:latin typeface="Consolas"/>
              </a:rPr>
              <a:t>T1 · M1-3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60934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ADRs de arquitetura no Notion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60934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Documentação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60934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Hábito de sênior: decisões rastreáveis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57400"/>
            <a:ext cx="11430000" cy="5029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167128"/>
            <a:ext cx="109728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EC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16712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C6A2A"/>
                </a:solidFill>
                <a:latin typeface="Consolas"/>
              </a:rPr>
              <a:t>T1 · M2-3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211226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Datadog Fundamentals certification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11226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Certificação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1122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Diferencial imediato no trabalho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560320"/>
            <a:ext cx="11430000" cy="502920"/>
          </a:xfrm>
          <a:prstGeom prst="rect">
            <a:avLst/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670048"/>
            <a:ext cx="109728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5E9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67004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E9FF7"/>
                </a:solidFill>
                <a:latin typeface="Consolas"/>
              </a:rPr>
              <a:t>T2 · M4-6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261518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AWS Cloud Practitioner aprovado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61518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Certificação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61518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Infra cloud formalizada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063240"/>
            <a:ext cx="11430000" cy="5029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172968"/>
            <a:ext cx="109728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5E9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172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E9FF7"/>
                </a:solidFill>
                <a:latin typeface="Consolas"/>
              </a:rPr>
              <a:t>T2 · M4-6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11810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Rollout Service instrumentado c/ APM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11810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Técnico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11810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Observabilidade em projeto real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566160"/>
            <a:ext cx="11430000" cy="502920"/>
          </a:xfrm>
          <a:prstGeom prst="rect">
            <a:avLst/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3675888"/>
            <a:ext cx="109728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5E9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6758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E9FF7"/>
                </a:solidFill>
                <a:latin typeface="Consolas"/>
              </a:rPr>
              <a:t>T2 · M5-6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362102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Case técnico → promoção a pleno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62102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Carreira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6210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Evidenciar evolução ao gestor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069080"/>
            <a:ext cx="11430000" cy="5029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4178808"/>
            <a:ext cx="109728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4EC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1788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CB8D"/>
                </a:solidFill>
                <a:latin typeface="Consolas"/>
              </a:rPr>
              <a:t>T3 · M7-9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412394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MongoDB Associate Developer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12394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Certificação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412394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Consolida expertise existente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572000"/>
            <a:ext cx="11430000" cy="502920"/>
          </a:xfrm>
          <a:prstGeom prst="rect">
            <a:avLst/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4681728"/>
            <a:ext cx="109728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4EC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468172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CB8D"/>
                </a:solidFill>
                <a:latin typeface="Consolas"/>
              </a:rPr>
              <a:t>T3 · M8-9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462686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Tech talk: hexagonal ou observabilidade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62686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Visibilidade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46268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Referência técnica no time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074920"/>
            <a:ext cx="11430000" cy="5029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5184648"/>
            <a:ext cx="109728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18464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78BFA"/>
                </a:solidFill>
                <a:latin typeface="Consolas"/>
              </a:rPr>
              <a:t>T4 · M10-12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00200" y="512978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AWS Solutions Architect Associate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512978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Certificação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512978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Diferencial forte para sênior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" y="5687568"/>
            <a:ext cx="1097280" cy="237744"/>
          </a:xfrm>
          <a:prstGeom prst="rect">
            <a:avLst/>
          </a:prstGeom>
          <a:solidFill>
            <a:srgbClr val="18181F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56875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78BFA"/>
                </a:solidFill>
                <a:latin typeface="Consolas"/>
              </a:rPr>
              <a:t>T4 · M10-12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00200" y="563270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Projeto de dados / data product na área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563270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Técnico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563270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9A"/>
                </a:solidFill>
                <a:latin typeface="Calibri"/>
              </a:rPr>
              <a:t>Primeiro contato real c/ data mesh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9A"/>
                </a:solidFill>
                <a:latin typeface="Consolas"/>
              </a:rPr>
              <a:t>05 · como se posicionar para pleno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11247120" cy="1828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713232"/>
            <a:ext cx="5623560" cy="283464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13232"/>
            <a:ext cx="54864" cy="2834640"/>
          </a:xfrm>
          <a:prstGeom prst="rect">
            <a:avLst/>
          </a:prstGeom>
          <a:solidFill>
            <a:srgbClr val="EC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6A2A"/>
                </a:solidFill>
                <a:latin typeface="Consolas"/>
              </a:rPr>
              <a:t>🗣  O QUE COMUNICAR AO GESTOR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Me especializo em arquitetura back-end com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0934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Rollout Service é meu projeto âncora de evidência técnica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2996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Quero os critérios concretos de avaliação para pleno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5059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Contribuo com a iniciativa DJ, que impacta toda a área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7121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Busco certs Datadog + AWS para formalizar expertise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713232"/>
            <a:ext cx="5623560" cy="283464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713232"/>
            <a:ext cx="54864" cy="2834640"/>
          </a:xfrm>
          <a:prstGeom prst="rect">
            <a:avLst/>
          </a:prstGeom>
          <a:solidFill>
            <a:srgbClr val="5E9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804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9FF7"/>
                </a:solidFill>
                <a:latin typeface="Consolas"/>
              </a:rPr>
              <a:t>📊  EVIDÊNCIAS QUE CONSTROEM O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18872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Código em produção com impacto mensurável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60934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Documentação técnica: ADRs, diagramas, Notion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02996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Certificações: proof além do dia a 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45059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Iniciativas além do backlog: DJ, Rollout, tech talks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87121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On-call com diagnóstico estruturado + post-mortem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5623560" cy="283464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54864" cy="2834640"/>
          </a:xfrm>
          <a:prstGeom prst="rect">
            <a:avLst/>
          </a:prstGeom>
          <a:solidFill>
            <a:srgbClr val="F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840479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6A7A"/>
                </a:solidFill>
                <a:latin typeface="Consolas"/>
              </a:rPr>
              <a:t>⚡  ARMADILHAS A EVITAR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224527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Estudar tudo ao mesmo tempo → foco até os 6m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4645151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Entrega sem comunicação não gera promoção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065775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Angular como fuga — limite o tempo nele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486399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PDI sem alinhamento com gestor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907023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Cert sem aplicação prática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749039"/>
            <a:ext cx="5623560" cy="2834640"/>
          </a:xfrm>
          <a:prstGeom prst="rect">
            <a:avLst/>
          </a:prstGeom>
          <a:solidFill>
            <a:srgbClr val="111118"/>
          </a:solidFill>
          <a:ln w="9525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749039"/>
            <a:ext cx="54864" cy="2834640"/>
          </a:xfrm>
          <a:prstGeom prst="rect">
            <a:avLst/>
          </a:prstGeom>
          <a:solidFill>
            <a:srgbClr val="4EC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840479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ECB8D"/>
                </a:solidFill>
                <a:latin typeface="Consolas"/>
              </a:rPr>
              <a:t>🧭  PERFIL ALVO — 6 MESES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224527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Back-end pleno em Go + hexagonal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645151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Propor e revisar soluções com autonomia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5065775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Datadog APM/logs/alertas — certificado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5486399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AWS Cloud Practitioner — infra formalizada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5907023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→  Referência técnica em 1 domínio do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6A2A"/>
                </a:solidFill>
                <a:latin typeface="Consolas"/>
              </a:rPr>
              <a:t>// PRÓXIMOS PASSOS IMEDIATOS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que fazer esta semana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solidFill>
            <a:srgbClr val="EC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13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alibri"/>
              </a:rPr>
              <a:t>Conversar com o tech lead/gestor sobre os critérios de promoção a pleno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44368"/>
            <a:ext cx="411480" cy="411480"/>
          </a:xfrm>
          <a:prstGeom prst="rect">
            <a:avLst/>
          </a:prstGeom>
          <a:solidFill>
            <a:srgbClr val="5E9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44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alibri"/>
              </a:rPr>
              <a:t>Verificar trilhas internas disponíveis no Itaú (Alura, cloud, dados)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02736"/>
            <a:ext cx="411480" cy="411480"/>
          </a:xfrm>
          <a:prstGeom prst="rect">
            <a:avLst/>
          </a:prstGeom>
          <a:solidFill>
            <a:srgbClr val="4EC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02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301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alibri"/>
              </a:rPr>
              <a:t>Retomar e priorizar a fase 3.3 do Rollout Service como projeto âncora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61104"/>
            <a:ext cx="411480" cy="411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61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8853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alibri"/>
              </a:rPr>
              <a:t>Criar documento de ADR no Notion para a próxima decisão técnica do projeto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19472"/>
            <a:ext cx="411480" cy="411480"/>
          </a:xfrm>
          <a:prstGeom prst="rect">
            <a:avLst/>
          </a:prstGeom>
          <a:solidFill>
            <a:srgbClr val="F7C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19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4690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alibri"/>
              </a:rPr>
              <a:t>Agendar início dos estudos para Datadog Fundamentals (20–30h de estudo)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9A"/>
                </a:solidFill>
                <a:latin typeface="Consolas"/>
              </a:rPr>
              <a:t>// PDI · Itaú · ENG FOUNDATION · revisão recomendada: trimestral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